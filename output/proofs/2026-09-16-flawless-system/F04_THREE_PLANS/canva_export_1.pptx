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0287000" cy="12852400"/>
  <p:notesSz cx="6858000" cy="9144000"/>
  <p:embeddedFontLst>
    <p:embeddedFont>
      <p:font typeface="Cinzel Bold" charset="1" panose="00000800000000000000"/>
      <p:regular r:id="rId10"/>
    </p:embeddedFont>
    <p:embeddedFont>
      <p:font typeface="Lora" charset="1" panose="00000500000000000000"/>
      <p:regular r:id="rId11"/>
    </p:embeddedFont>
    <p:embeddedFont>
      <p:font typeface="Verdana" charset="1" panose="020B0604030504040204"/>
      <p:regular r:id="rId12"/>
    </p:embeddedFont>
    <p:embeddedFont>
      <p:font typeface="Verdana Bold" charset="1" panose="020B0804030504040204"/>
      <p:regular r:id="rId13"/>
    </p:embeddedFont>
    <p:embeddedFont>
      <p:font typeface="Montserrat Bold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9897" y="3536947"/>
            <a:ext cx="1727197" cy="41272"/>
            <a:chOff x="0" y="0"/>
            <a:chExt cx="2302929" cy="550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2891" cy="54991"/>
            </a:xfrm>
            <a:custGeom>
              <a:avLst/>
              <a:gdLst/>
              <a:ahLst/>
              <a:cxnLst/>
              <a:rect r="r" b="b" t="t" l="l"/>
              <a:pathLst>
                <a:path h="54991" w="2302891">
                  <a:moveTo>
                    <a:pt x="0" y="0"/>
                  </a:moveTo>
                  <a:lnTo>
                    <a:pt x="2302891" y="0"/>
                  </a:lnTo>
                  <a:lnTo>
                    <a:pt x="2302891" y="54991"/>
                  </a:lnTo>
                  <a:lnTo>
                    <a:pt x="0" y="54991"/>
                  </a:lnTo>
                  <a:close/>
                </a:path>
              </a:pathLst>
            </a:custGeom>
            <a:solidFill>
              <a:srgbClr val="F7B5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897" y="9032872"/>
            <a:ext cx="8585197" cy="1289047"/>
            <a:chOff x="0" y="0"/>
            <a:chExt cx="11446929" cy="1718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46891" cy="1718691"/>
            </a:xfrm>
            <a:custGeom>
              <a:avLst/>
              <a:gdLst/>
              <a:ahLst/>
              <a:cxnLst/>
              <a:rect r="r" b="b" t="t" l="l"/>
              <a:pathLst>
                <a:path h="1718691" w="11446891">
                  <a:moveTo>
                    <a:pt x="0" y="0"/>
                  </a:moveTo>
                  <a:lnTo>
                    <a:pt x="11446891" y="0"/>
                  </a:lnTo>
                  <a:lnTo>
                    <a:pt x="11446891" y="1718691"/>
                  </a:lnTo>
                  <a:lnTo>
                    <a:pt x="0" y="1718691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0897" y="9032872"/>
            <a:ext cx="8585197" cy="41272"/>
            <a:chOff x="0" y="0"/>
            <a:chExt cx="11446929" cy="550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46891" cy="54991"/>
            </a:xfrm>
            <a:custGeom>
              <a:avLst/>
              <a:gdLst/>
              <a:ahLst/>
              <a:cxnLst/>
              <a:rect r="r" b="b" t="t" l="l"/>
              <a:pathLst>
                <a:path h="54991" w="11446891">
                  <a:moveTo>
                    <a:pt x="0" y="0"/>
                  </a:moveTo>
                  <a:lnTo>
                    <a:pt x="11446891" y="0"/>
                  </a:lnTo>
                  <a:lnTo>
                    <a:pt x="11446891" y="54991"/>
                  </a:lnTo>
                  <a:lnTo>
                    <a:pt x="0" y="54991"/>
                  </a:lnTo>
                  <a:close/>
                </a:path>
              </a:pathLst>
            </a:custGeom>
            <a:solidFill>
              <a:srgbClr val="F7B5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2114550"/>
            <a:ext cx="8572500" cy="1238250"/>
            <a:chOff x="0" y="0"/>
            <a:chExt cx="11430000" cy="165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3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896" r="0" b="-8489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11430000" cy="176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2700" b="true">
                  <a:solidFill>
                    <a:srgbClr val="F7B500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THE NATIONAL STANDARDS FOR QUALITY ASSURANCE IN EDUCATION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7250" y="3762375"/>
            <a:ext cx="8572500" cy="485775"/>
            <a:chOff x="0" y="0"/>
            <a:chExt cx="11430000" cy="647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30000" cy="647700"/>
            </a:xfrm>
            <a:custGeom>
              <a:avLst/>
              <a:gdLst/>
              <a:ahLst/>
              <a:cxnLst/>
              <a:rect r="r" b="b" t="t" l="l"/>
              <a:pathLst>
                <a:path h="6477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853" r="0" b="-29385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14300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98"/>
                </a:lnSpc>
              </a:pPr>
              <a:r>
                <a:rPr lang="en-US" sz="1725">
                  <a:solidFill>
                    <a:srgbClr val="FDF8F3"/>
                  </a:solidFill>
                  <a:latin typeface="Lora"/>
                  <a:ea typeface="Lora"/>
                  <a:cs typeface="Lora"/>
                  <a:sym typeface="Lora"/>
                </a:rPr>
                <a:t>Mr. / Ms. / Dr. [Full Name]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57250" y="4391025"/>
            <a:ext cx="8572500" cy="723900"/>
            <a:chOff x="0" y="0"/>
            <a:chExt cx="11430000" cy="965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3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743" r="0" b="-18074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1430000" cy="1031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The Kurdistan Accrediting Association for Education</a:t>
              </a:r>
            </a:p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cordially requests the honor of your presence at this landmark occasion.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7250" y="5276850"/>
            <a:ext cx="8572500" cy="1809750"/>
            <a:chOff x="0" y="0"/>
            <a:chExt cx="11430000" cy="241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3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2413000"/>
                  </a:lnTo>
                  <a:lnTo>
                    <a:pt x="0" y="241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1430000" cy="247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His Excellency Prime Minister Masrour Barzani will officially announce the National Standards for Quality Assurance in Education, marking a defining moment in the advancement of educational quality across the Kurdistan Region. The occasion will bring together government, educational institutions, and international partners around a shared national vision for excellence, accountability, and continuous improvement.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7250" y="7258050"/>
            <a:ext cx="8572500" cy="1533525"/>
            <a:chOff x="0" y="0"/>
            <a:chExt cx="11430000" cy="2044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30000" cy="2044700"/>
            </a:xfrm>
            <a:custGeom>
              <a:avLst/>
              <a:gdLst/>
              <a:ahLst/>
              <a:cxnLst/>
              <a:rect r="r" b="b" t="t" l="l"/>
              <a:pathLst>
                <a:path h="20447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2044700"/>
                  </a:lnTo>
                  <a:lnTo>
                    <a:pt x="0" y="2044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22" r="0" b="-5892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1430000" cy="2111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As part of the official launch, the Minister of Education and the Minister of Higher Education and Scientific Research will sign a Memorandum of Understanding (MoU), marking a significant commitment to cooperation and the advancement of quality assurance across the education sector.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43000" y="9248775"/>
            <a:ext cx="8001000" cy="790575"/>
            <a:chOff x="0" y="0"/>
            <a:chExt cx="10668000" cy="1054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68000" cy="1054100"/>
            </a:xfrm>
            <a:custGeom>
              <a:avLst/>
              <a:gdLst/>
              <a:ahLst/>
              <a:cxnLst/>
              <a:rect r="r" b="b" t="t" l="l"/>
              <a:pathLst>
                <a:path h="10541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054100"/>
                  </a:lnTo>
                  <a:lnTo>
                    <a:pt x="0" y="1054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97" r="0" b="-14719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0668000" cy="1130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98"/>
                </a:lnSpc>
              </a:pPr>
              <a:r>
                <a:rPr lang="en-US" sz="1725" b="true">
                  <a:solidFill>
                    <a:srgbClr val="F7B500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September 9, 2026 | 2:30 PM</a:t>
              </a:r>
            </a:p>
            <a:p>
              <a:pPr algn="ctr">
                <a:lnSpc>
                  <a:spcPts val="2898"/>
                </a:lnSpc>
              </a:pPr>
              <a:r>
                <a:rPr lang="en-US" sz="1725" b="true">
                  <a:solidFill>
                    <a:srgbClr val="F7B500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Saad Abdullah Conference Hall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57250" y="10563225"/>
            <a:ext cx="8572500" cy="419100"/>
            <a:chOff x="0" y="0"/>
            <a:chExt cx="11430000" cy="55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30000" cy="558800"/>
            </a:xfrm>
            <a:custGeom>
              <a:avLst/>
              <a:gdLst/>
              <a:ahLst/>
              <a:cxnLst/>
              <a:rect r="r" b="b" t="t" l="l"/>
              <a:pathLst>
                <a:path h="5588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1430000" cy="62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94"/>
                </a:lnSpc>
              </a:pPr>
              <a:r>
                <a:rPr lang="en-US" sz="1425" b="true">
                  <a:solidFill>
                    <a:srgbClr val="FDF8F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By Invitation Only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57250" y="11163300"/>
            <a:ext cx="8572500" cy="666750"/>
            <a:chOff x="0" y="0"/>
            <a:chExt cx="11430000" cy="889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43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1430000" cy="955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350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This invitation is personal and non-transferable.</a:t>
              </a:r>
            </a:p>
            <a:p>
              <a:pPr algn="ctr">
                <a:lnSpc>
                  <a:spcPts val="2268"/>
                </a:lnSpc>
              </a:pPr>
              <a:r>
                <a:rPr lang="en-US" sz="1350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Kindly do not share this invitation.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572000" y="666750"/>
            <a:ext cx="1143000" cy="1143000"/>
            <a:chOff x="0" y="0"/>
            <a:chExt cx="1524000" cy="152400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DAHVXE_Lyc8</dc:identifier>
  <dcterms:modified xsi:type="dcterms:W3CDTF">2011-08-01T06:04:30Z</dcterms:modified>
  <cp:revision>1</cp:revision>
  <dc:title>KAAE: THE NATIONAL STANDARDS FOR QUALITY ASSURANCE</dc:title>
</cp:coreProperties>
</file>