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0287000" cy="12852400"/>
  <p:notesSz cx="6858000" cy="9144000"/>
  <p:embeddedFontLst>
    <p:embeddedFont>
      <p:font typeface="Cinzel Bold" charset="1" panose="00000800000000000000"/>
      <p:regular r:id="rId10"/>
    </p:embeddedFont>
    <p:embeddedFont>
      <p:font typeface="Verdana" charset="1" panose="020B0604030504040204"/>
      <p:regular r:id="rId11"/>
    </p:embeddedFont>
    <p:embeddedFont>
      <p:font typeface="Verdana Bold" charset="1" panose="020B0804030504040204"/>
      <p:regular r:id="rId12"/>
    </p:embeddedFont>
    <p:embeddedFont>
      <p:font typeface="Montserrat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647" y="5356222"/>
            <a:ext cx="4184647" cy="31747"/>
            <a:chOff x="0" y="0"/>
            <a:chExt cx="5579529" cy="42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79491" cy="42291"/>
            </a:xfrm>
            <a:custGeom>
              <a:avLst/>
              <a:gdLst/>
              <a:ahLst/>
              <a:cxnLst/>
              <a:rect r="r" b="b" t="t" l="l"/>
              <a:pathLst>
                <a:path h="42291" w="5579491">
                  <a:moveTo>
                    <a:pt x="0" y="0"/>
                  </a:moveTo>
                  <a:lnTo>
                    <a:pt x="5579491" y="0"/>
                  </a:lnTo>
                  <a:lnTo>
                    <a:pt x="5579491" y="42291"/>
                  </a:lnTo>
                  <a:lnTo>
                    <a:pt x="0" y="42291"/>
                  </a:lnTo>
                  <a:close/>
                </a:path>
              </a:pathLst>
            </a:custGeom>
            <a:solidFill>
              <a:srgbClr val="F7B5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46697" y="5356222"/>
            <a:ext cx="4184647" cy="31747"/>
            <a:chOff x="0" y="0"/>
            <a:chExt cx="5579529" cy="423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79491" cy="42291"/>
            </a:xfrm>
            <a:custGeom>
              <a:avLst/>
              <a:gdLst/>
              <a:ahLst/>
              <a:cxnLst/>
              <a:rect r="r" b="b" t="t" l="l"/>
              <a:pathLst>
                <a:path h="42291" w="5579491">
                  <a:moveTo>
                    <a:pt x="0" y="0"/>
                  </a:moveTo>
                  <a:lnTo>
                    <a:pt x="5579491" y="0"/>
                  </a:lnTo>
                  <a:lnTo>
                    <a:pt x="5579491" y="42291"/>
                  </a:lnTo>
                  <a:lnTo>
                    <a:pt x="0" y="42291"/>
                  </a:lnTo>
                  <a:close/>
                </a:path>
              </a:pathLst>
            </a:custGeom>
            <a:solidFill>
              <a:srgbClr val="F7B5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2000" y="2114550"/>
            <a:ext cx="8763000" cy="1066800"/>
            <a:chOff x="0" y="0"/>
            <a:chExt cx="11684000" cy="1422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84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422400"/>
                  </a:lnTo>
                  <a:lnTo>
                    <a:pt x="0" y="1422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11684000" cy="1536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2"/>
                </a:lnSpc>
              </a:pPr>
              <a:r>
                <a:rPr lang="en-US" sz="2400" b="true">
                  <a:solidFill>
                    <a:srgbClr val="F7B500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THE NATIONAL STANDARDS FOR QUALITY ASSURANCE IN EDUCATION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2000" y="3524250"/>
            <a:ext cx="8763000" cy="457200"/>
            <a:chOff x="0" y="0"/>
            <a:chExt cx="116840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84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16840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Mr. / Ms. / Dr. [Full Name]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2000" y="4162425"/>
            <a:ext cx="8763000" cy="952500"/>
            <a:chOff x="0" y="0"/>
            <a:chExt cx="11684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8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270000"/>
                  </a:lnTo>
                  <a:lnTo>
                    <a:pt x="0" y="127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1684000" cy="133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4"/>
                </a:lnSpc>
              </a:pPr>
              <a:r>
                <a:rPr lang="en-US" sz="1425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The Kurdistan Accrediting Association for Education</a:t>
              </a:r>
            </a:p>
            <a:p>
              <a:pPr algn="l">
                <a:lnSpc>
                  <a:spcPts val="2394"/>
                </a:lnSpc>
              </a:pPr>
              <a:r>
                <a:rPr lang="en-US" sz="1425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cordially requests the honor of your presence at this landmark occasion.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2000" y="5562600"/>
            <a:ext cx="4171950" cy="3638550"/>
            <a:chOff x="0" y="0"/>
            <a:chExt cx="5562600" cy="4851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62600" cy="4851400"/>
            </a:xfrm>
            <a:custGeom>
              <a:avLst/>
              <a:gdLst/>
              <a:ahLst/>
              <a:cxnLst/>
              <a:rect r="r" b="b" t="t" l="l"/>
              <a:pathLst>
                <a:path h="4851400" w="5562600">
                  <a:moveTo>
                    <a:pt x="0" y="0"/>
                  </a:moveTo>
                  <a:lnTo>
                    <a:pt x="5562600" y="0"/>
                  </a:lnTo>
                  <a:lnTo>
                    <a:pt x="5562600" y="4851400"/>
                  </a:lnTo>
                  <a:lnTo>
                    <a:pt x="0" y="4851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899" t="0" r="-61899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5562600" cy="4918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4"/>
                </a:lnSpc>
              </a:pPr>
              <a:r>
                <a:rPr lang="en-US" sz="1425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His Excellency Prime Minister Masrour Barzani will officially announce the National Standards for Quality Assurance in Education, marking a defining moment in the advancement of educational quality across the Kurdistan Region. The occasion will bring together government, educational institutions, and international partners around a shared national vision for excellence, accountability, and continuous improvement.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353050" y="5562600"/>
            <a:ext cx="4171950" cy="3638550"/>
            <a:chOff x="0" y="0"/>
            <a:chExt cx="5562600" cy="4851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62600" cy="4851400"/>
            </a:xfrm>
            <a:custGeom>
              <a:avLst/>
              <a:gdLst/>
              <a:ahLst/>
              <a:cxnLst/>
              <a:rect r="r" b="b" t="t" l="l"/>
              <a:pathLst>
                <a:path h="4851400" w="5562600">
                  <a:moveTo>
                    <a:pt x="0" y="0"/>
                  </a:moveTo>
                  <a:lnTo>
                    <a:pt x="5562600" y="0"/>
                  </a:lnTo>
                  <a:lnTo>
                    <a:pt x="5562600" y="4851400"/>
                  </a:lnTo>
                  <a:lnTo>
                    <a:pt x="0" y="4851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899" t="0" r="-6189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62600" cy="4918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4"/>
                </a:lnSpc>
              </a:pPr>
              <a:r>
                <a:rPr lang="en-US" sz="1425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As part of the official launch, the Minister of Education and the Minister of Higher Education and Scientific Research will sign a Memorandum of Understanding (MoU), marking a significant commitment to cooperation and the advancement of quality assurance across the education sector.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2000" y="9534525"/>
            <a:ext cx="8763000" cy="819150"/>
            <a:chOff x="0" y="0"/>
            <a:chExt cx="11684000" cy="1092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684000" cy="1092200"/>
            </a:xfrm>
            <a:custGeom>
              <a:avLst/>
              <a:gdLst/>
              <a:ahLst/>
              <a:cxnLst/>
              <a:rect r="r" b="b" t="t" l="l"/>
              <a:pathLst>
                <a:path h="10922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092200"/>
                  </a:lnTo>
                  <a:lnTo>
                    <a:pt x="0" y="1092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444" r="0" b="-15844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11684000" cy="116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2"/>
                </a:lnSpc>
              </a:pPr>
              <a:r>
                <a:rPr lang="en-US" sz="1650" b="true">
                  <a:solidFill>
                    <a:srgbClr val="F7B500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September 9, 2026 | 2:30 PM</a:t>
              </a:r>
            </a:p>
            <a:p>
              <a:pPr algn="ctr">
                <a:lnSpc>
                  <a:spcPts val="2772"/>
                </a:lnSpc>
              </a:pPr>
              <a:r>
                <a:rPr lang="en-US" sz="1650" b="true">
                  <a:solidFill>
                    <a:srgbClr val="F7B500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Saad Abdullah Conference Hall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62000" y="10715625"/>
            <a:ext cx="8763000" cy="400050"/>
            <a:chOff x="0" y="0"/>
            <a:chExt cx="11684000" cy="533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684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15" r="0" b="-37681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1684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42"/>
                </a:lnSpc>
              </a:pPr>
              <a:r>
                <a:rPr lang="en-US" sz="1275" b="true">
                  <a:solidFill>
                    <a:srgbClr val="F7B5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By Invitation Only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62000" y="11334750"/>
            <a:ext cx="8763000" cy="647700"/>
            <a:chOff x="0" y="0"/>
            <a:chExt cx="11684000" cy="863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684000" cy="863600"/>
            </a:xfrm>
            <a:custGeom>
              <a:avLst/>
              <a:gdLst/>
              <a:ahLst/>
              <a:cxnLst/>
              <a:rect r="r" b="b" t="t" l="l"/>
              <a:pathLst>
                <a:path h="8636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621" r="0" b="-21362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1684000" cy="911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125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This invitation is personal and non-transferable.</a:t>
              </a:r>
            </a:p>
            <a:p>
              <a:pPr algn="ctr">
                <a:lnSpc>
                  <a:spcPts val="1889"/>
                </a:lnSpc>
              </a:pPr>
              <a:r>
                <a:rPr lang="en-US" sz="1125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Kindly do not share this invitation.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619625" y="666750"/>
            <a:ext cx="1047750" cy="1047750"/>
            <a:chOff x="0" y="0"/>
            <a:chExt cx="1397000" cy="13970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DAHVXFuNaK4</dc:identifier>
  <dcterms:modified xsi:type="dcterms:W3CDTF">2011-08-01T06:04:30Z</dcterms:modified>
  <cp:revision>1</cp:revision>
  <dc:title>KAAE: THE NATIONAL STANDARDS FOR QUALITY ASSURANCE</dc:title>
</cp:coreProperties>
</file>