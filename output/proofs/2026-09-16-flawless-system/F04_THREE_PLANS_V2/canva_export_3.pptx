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10287000" cy="12852400"/>
  <p:notesSz cx="6858000" cy="9144000"/>
  <p:embeddedFontLst>
    <p:embeddedFont>
      <p:font typeface="Cinzel Bold" charset="1" panose="00000800000000000000"/>
      <p:regular r:id="rId10"/>
    </p:embeddedFont>
    <p:embeddedFont>
      <p:font typeface="Verdana Bold" charset="1" panose="020B0804030504040204"/>
      <p:regular r:id="rId11"/>
    </p:embeddedFont>
    <p:embeddedFont>
      <p:font typeface="Verdana" charset="1" panose="020B060403050404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0897" y="9270997"/>
            <a:ext cx="8585197" cy="31747"/>
            <a:chOff x="0" y="0"/>
            <a:chExt cx="11446929" cy="423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46891" cy="42291"/>
            </a:xfrm>
            <a:custGeom>
              <a:avLst/>
              <a:gdLst/>
              <a:ahLst/>
              <a:cxnLst/>
              <a:rect r="r" b="b" t="t" l="l"/>
              <a:pathLst>
                <a:path h="42291" w="11446891">
                  <a:moveTo>
                    <a:pt x="0" y="0"/>
                  </a:moveTo>
                  <a:lnTo>
                    <a:pt x="11446891" y="0"/>
                  </a:lnTo>
                  <a:lnTo>
                    <a:pt x="11446891" y="42291"/>
                  </a:lnTo>
                  <a:lnTo>
                    <a:pt x="0" y="42291"/>
                  </a:lnTo>
                  <a:close/>
                </a:path>
              </a:pathLst>
            </a:custGeom>
            <a:solidFill>
              <a:srgbClr val="F7B50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62000" y="2114550"/>
            <a:ext cx="8763000" cy="1733550"/>
            <a:chOff x="0" y="0"/>
            <a:chExt cx="11684000" cy="231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684000" cy="2311400"/>
            </a:xfrm>
            <a:custGeom>
              <a:avLst/>
              <a:gdLst/>
              <a:ahLst/>
              <a:cxnLst/>
              <a:rect r="r" b="b" t="t" l="l"/>
              <a:pathLst>
                <a:path h="2311400" w="11684000">
                  <a:moveTo>
                    <a:pt x="0" y="0"/>
                  </a:moveTo>
                  <a:lnTo>
                    <a:pt x="11684000" y="0"/>
                  </a:lnTo>
                  <a:lnTo>
                    <a:pt x="11684000" y="2311400"/>
                  </a:lnTo>
                  <a:lnTo>
                    <a:pt x="0" y="2311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495" r="0" b="-4849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33350"/>
              <a:ext cx="11684000" cy="24447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88"/>
                </a:lnSpc>
              </a:pPr>
              <a:r>
                <a:rPr lang="en-US" sz="2850" b="true">
                  <a:solidFill>
                    <a:srgbClr val="F7B500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THE NATIONAL STANDARDS FOR QUALITY ASSURANCE IN EDUCATION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3981450"/>
            <a:ext cx="8572500" cy="447675"/>
            <a:chOff x="0" y="0"/>
            <a:chExt cx="11430000" cy="596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430000" cy="596900"/>
            </a:xfrm>
            <a:custGeom>
              <a:avLst/>
              <a:gdLst/>
              <a:ahLst/>
              <a:cxnLst/>
              <a:rect r="r" b="b" t="t" l="l"/>
              <a:pathLst>
                <a:path h="5969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596900"/>
                  </a:lnTo>
                  <a:lnTo>
                    <a:pt x="0" y="596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3117" r="0" b="-323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1430000" cy="67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5"/>
                </a:lnSpc>
              </a:pPr>
              <a:r>
                <a:rPr lang="en-US" sz="1575" b="true">
                  <a:solidFill>
                    <a:srgbClr val="FDF8F3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Mr. / Ms. / Dr. [Full Name]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4591050"/>
            <a:ext cx="8572500" cy="742950"/>
            <a:chOff x="0" y="0"/>
            <a:chExt cx="11430000" cy="990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00" cy="990600"/>
            </a:xfrm>
            <a:custGeom>
              <a:avLst/>
              <a:gdLst/>
              <a:ahLst/>
              <a:cxnLst/>
              <a:rect r="r" b="b" t="t" l="l"/>
              <a:pathLst>
                <a:path h="9906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990600"/>
                  </a:lnTo>
                  <a:lnTo>
                    <a:pt x="0" y="990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1430000" cy="1057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The Kurdistan Accrediting Association for Education</a:t>
              </a:r>
            </a:p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cordially requests the honor of your presence at this landmark occasion.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57250" y="5524500"/>
            <a:ext cx="8572500" cy="1809750"/>
            <a:chOff x="0" y="0"/>
            <a:chExt cx="11430000" cy="2413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0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413000"/>
                  </a:lnTo>
                  <a:lnTo>
                    <a:pt x="0" y="2413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297" r="0" b="-422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430000" cy="2479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His Excellency Prime Minister Masrour Barzani will officially announce the National Standards for Quality Assurance in Education, marking a defining moment in the advancement of educational quality across the Kurdistan Region. The occasion will bring together government, educational institutions, and international partners around a shared national vision for excellence, accountability, and continuous improvement.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57250" y="7524750"/>
            <a:ext cx="8572500" cy="1533525"/>
            <a:chOff x="0" y="0"/>
            <a:chExt cx="11430000" cy="20447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430000" cy="2044700"/>
            </a:xfrm>
            <a:custGeom>
              <a:avLst/>
              <a:gdLst/>
              <a:ahLst/>
              <a:cxnLst/>
              <a:rect r="r" b="b" t="t" l="l"/>
              <a:pathLst>
                <a:path h="20447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2044700"/>
                  </a:lnTo>
                  <a:lnTo>
                    <a:pt x="0" y="204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922" r="0" b="-5892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430000" cy="2111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1500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As part of the official launch, the Minister of Education and the Minister of Higher Education and Scientific Research will sign a Memorandum of Understanding (MoU), marking a significant commitment to cooperation and the advancement of quality assurance across the education sector.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7250" y="9505950"/>
            <a:ext cx="8572500" cy="819150"/>
            <a:chOff x="0" y="0"/>
            <a:chExt cx="11430000" cy="1092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30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1092200"/>
                  </a:lnTo>
                  <a:lnTo>
                    <a:pt x="0" y="1092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913" r="0" b="-1539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85725"/>
              <a:ext cx="11430000" cy="117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F7B500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September 9, 2026 | 2:30 PM</a:t>
              </a:r>
            </a:p>
            <a:p>
              <a:pPr algn="l">
                <a:lnSpc>
                  <a:spcPts val="3024"/>
                </a:lnSpc>
              </a:pPr>
              <a:r>
                <a:rPr lang="en-US" sz="1800" b="true">
                  <a:solidFill>
                    <a:srgbClr val="F7B500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Saad Abdullah Conference Hall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57250" y="10553700"/>
            <a:ext cx="8572500" cy="409575"/>
            <a:chOff x="0" y="0"/>
            <a:chExt cx="11430000" cy="546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430000" cy="546100"/>
            </a:xfrm>
            <a:custGeom>
              <a:avLst/>
              <a:gdLst/>
              <a:ahLst/>
              <a:cxnLst/>
              <a:rect r="r" b="b" t="t" l="l"/>
              <a:pathLst>
                <a:path h="5461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546100"/>
                  </a:lnTo>
                  <a:lnTo>
                    <a:pt x="0" y="5461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7826" r="0" b="-35782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430000" cy="612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68"/>
                </a:lnSpc>
              </a:pPr>
              <a:r>
                <a:rPr lang="en-US" sz="1350" b="true">
                  <a:solidFill>
                    <a:srgbClr val="FDF8F3"/>
                  </a:solidFill>
                  <a:latin typeface="Verdana Bold"/>
                  <a:ea typeface="Verdana Bold"/>
                  <a:cs typeface="Verdana Bold"/>
                  <a:sym typeface="Verdana Bold"/>
                </a:rPr>
                <a:t>By Invitation Only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7250" y="11106150"/>
            <a:ext cx="8572500" cy="666750"/>
            <a:chOff x="0" y="0"/>
            <a:chExt cx="11430000" cy="889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430000" cy="889000"/>
            </a:xfrm>
            <a:custGeom>
              <a:avLst/>
              <a:gdLst/>
              <a:ahLst/>
              <a:cxnLst/>
              <a:rect r="r" b="b" t="t" l="l"/>
              <a:pathLst>
                <a:path h="889000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89000"/>
                  </a:lnTo>
                  <a:lnTo>
                    <a:pt x="0" y="889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1430000" cy="955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42"/>
                </a:lnSpc>
              </a:pPr>
              <a:r>
                <a:rPr lang="en-US" sz="127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This invitation is personal and non-transferable.</a:t>
              </a:r>
            </a:p>
            <a:p>
              <a:pPr algn="l">
                <a:lnSpc>
                  <a:spcPts val="2142"/>
                </a:lnSpc>
              </a:pPr>
              <a:r>
                <a:rPr lang="en-US" sz="1275">
                  <a:solidFill>
                    <a:srgbClr val="FDF8F3"/>
                  </a:solidFill>
                  <a:latin typeface="Verdana"/>
                  <a:ea typeface="Verdana"/>
                  <a:cs typeface="Verdana"/>
                  <a:sym typeface="Verdana"/>
                </a:rPr>
                <a:t>Kindly do not share this invitation.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591050" y="666750"/>
            <a:ext cx="1104900" cy="1104900"/>
            <a:chOff x="0" y="0"/>
            <a:chExt cx="1473200" cy="14732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473200" cy="1473200"/>
            </a:xfrm>
            <a:custGeom>
              <a:avLst/>
              <a:gdLst/>
              <a:ahLst/>
              <a:cxnLst/>
              <a:rect r="r" b="b" t="t" l="l"/>
              <a:pathLst>
                <a:path h="1473200" w="1473200">
                  <a:moveTo>
                    <a:pt x="0" y="0"/>
                  </a:moveTo>
                  <a:lnTo>
                    <a:pt x="1473200" y="0"/>
                  </a:lnTo>
                  <a:lnTo>
                    <a:pt x="1473200" y="1473200"/>
                  </a:lnTo>
                  <a:lnTo>
                    <a:pt x="0" y="147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DAHVYtuLZEY</dc:identifier>
  <dcterms:modified xsi:type="dcterms:W3CDTF">2011-08-01T06:04:30Z</dcterms:modified>
  <cp:revision>1</cp:revision>
  <dc:title>KAAE: THE NATIONAL STANDARDS FOR QUALITY ASSURANCE</dc:title>
</cp:coreProperties>
</file>